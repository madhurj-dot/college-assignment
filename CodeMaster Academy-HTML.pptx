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2" r:id="rId1"/>
  </p:sldMasterIdLst>
  <p:sldIdLst>
    <p:sldId id="256" r:id="rId2"/>
    <p:sldId id="259" r:id="rId3"/>
    <p:sldId id="257" r:id="rId4"/>
    <p:sldId id="260" r:id="rId5"/>
    <p:sldId id="261" r:id="rId6"/>
    <p:sldId id="25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7602D48-2C72-4A1A-8F3D-CD8DBD881C93}" type="datetimeFigureOut">
              <a:rPr lang="en-IN" smtClean="0"/>
              <a:t>14-04-2026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556035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602D48-2C72-4A1A-8F3D-CD8DBD881C93}"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47057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602D48-2C72-4A1A-8F3D-CD8DBD881C93}"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2246951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31006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602D48-2C72-4A1A-8F3D-CD8DBD881C93}" type="datetimeFigureOut">
              <a:rPr lang="en-IN" smtClean="0"/>
              <a:t>14-04-2026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305497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602D48-2C72-4A1A-8F3D-CD8DBD881C93}"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850242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602D48-2C72-4A1A-8F3D-CD8DBD881C93}" type="datetimeFigureOut">
              <a:rPr lang="en-IN" smtClean="0"/>
              <a:t>14-04-2026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30262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60095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4201576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3152716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2756924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76727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602D48-2C72-4A1A-8F3D-CD8DBD881C93}" type="datetimeFigureOut">
              <a:rPr lang="en-IN" smtClean="0"/>
              <a:t>14-04-2026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3194569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602D48-2C72-4A1A-8F3D-CD8DBD881C93}"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7184760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602D48-2C72-4A1A-8F3D-CD8DBD881C93}" type="datetimeFigureOut">
              <a:rPr lang="en-IN" smtClean="0"/>
              <a:t>14-04-2026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3308547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602D48-2C72-4A1A-8F3D-CD8DBD881C93}"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129146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602D48-2C72-4A1A-8F3D-CD8DBD881C93}" type="datetimeFigureOut">
              <a:rPr lang="en-IN" smtClean="0"/>
              <a:t>14-04-2026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6840A8-2BAD-4AEB-9FD2-3F7EB5869119}" type="slidenum">
              <a:rPr lang="en-IN" smtClean="0"/>
              <a:t>‹#›</a:t>
            </a:fld>
            <a:endParaRPr lang="en-IN"/>
          </a:p>
        </p:txBody>
      </p:sp>
    </p:spTree>
    <p:extLst>
      <p:ext uri="{BB962C8B-B14F-4D97-AF65-F5344CB8AC3E}">
        <p14:creationId xmlns:p14="http://schemas.microsoft.com/office/powerpoint/2010/main" val="1249302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7602D48-2C72-4A1A-8F3D-CD8DBD881C93}" type="datetimeFigureOut">
              <a:rPr lang="en-IN" smtClean="0"/>
              <a:t>14-04-2026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6840A8-2BAD-4AEB-9FD2-3F7EB5869119}" type="slidenum">
              <a:rPr lang="en-IN" smtClean="0"/>
              <a:t>‹#›</a:t>
            </a:fld>
            <a:endParaRPr lang="en-IN"/>
          </a:p>
        </p:txBody>
      </p:sp>
    </p:spTree>
    <p:extLst>
      <p:ext uri="{BB962C8B-B14F-4D97-AF65-F5344CB8AC3E}">
        <p14:creationId xmlns:p14="http://schemas.microsoft.com/office/powerpoint/2010/main" val="1354244043"/>
      </p:ext>
    </p:extLst>
  </p:cSld>
  <p:clrMap bg1="dk1" tx1="lt1" bg2="dk2" tx2="lt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 id="2147484014" r:id="rId12"/>
    <p:sldLayoutId id="2147484015" r:id="rId13"/>
    <p:sldLayoutId id="2147484016" r:id="rId14"/>
    <p:sldLayoutId id="2147484017" r:id="rId15"/>
    <p:sldLayoutId id="2147484018" r:id="rId16"/>
    <p:sldLayoutId id="214748401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8C9D433-1E4E-982A-8808-FDEC759832B8}"/>
              </a:ext>
            </a:extLst>
          </p:cNvPr>
          <p:cNvSpPr/>
          <p:nvPr/>
        </p:nvSpPr>
        <p:spPr>
          <a:xfrm>
            <a:off x="675167" y="3236415"/>
            <a:ext cx="8155172" cy="203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Subtitle 2">
            <a:extLst>
              <a:ext uri="{FF2B5EF4-FFF2-40B4-BE49-F238E27FC236}">
                <a16:creationId xmlns:a16="http://schemas.microsoft.com/office/drawing/2014/main" id="{B5B98800-C5EF-966C-BC19-2602C6DC4645}"/>
              </a:ext>
            </a:extLst>
          </p:cNvPr>
          <p:cNvSpPr>
            <a:spLocks noGrp="1"/>
          </p:cNvSpPr>
          <p:nvPr>
            <p:ph type="subTitle" idx="1"/>
          </p:nvPr>
        </p:nvSpPr>
        <p:spPr>
          <a:xfrm>
            <a:off x="770859" y="3441627"/>
            <a:ext cx="8059480" cy="1748059"/>
          </a:xfrm>
        </p:spPr>
        <p:txBody>
          <a:bodyPr>
            <a:normAutofit fontScale="92500" lnSpcReduction="10000"/>
          </a:bodyPr>
          <a:lstStyle/>
          <a:p>
            <a:r>
              <a:rPr lang="en-US" dirty="0">
                <a:solidFill>
                  <a:schemeClr val="accent3">
                    <a:lumMod val="40000"/>
                    <a:lumOff val="60000"/>
                  </a:schemeClr>
                </a:solidFill>
                <a:latin typeface="Arial" panose="020B0604020202020204" pitchFamily="34" charset="0"/>
                <a:cs typeface="Arial" panose="020B0604020202020204" pitchFamily="34" charset="0"/>
              </a:rPr>
              <a:t>Online Course Dashboard: Design the student dashboard for "</a:t>
            </a:r>
            <a:r>
              <a:rPr lang="en-US" dirty="0" err="1">
                <a:solidFill>
                  <a:schemeClr val="accent3">
                    <a:lumMod val="40000"/>
                    <a:lumOff val="60000"/>
                  </a:schemeClr>
                </a:solidFill>
                <a:latin typeface="Arial" panose="020B0604020202020204" pitchFamily="34" charset="0"/>
                <a:cs typeface="Arial" panose="020B0604020202020204" pitchFamily="34" charset="0"/>
              </a:rPr>
              <a:t>CodeMaster</a:t>
            </a:r>
            <a:r>
              <a:rPr lang="en-US" dirty="0">
                <a:solidFill>
                  <a:schemeClr val="accent3">
                    <a:lumMod val="40000"/>
                    <a:lumOff val="60000"/>
                  </a:schemeClr>
                </a:solidFill>
                <a:latin typeface="Arial" panose="020B0604020202020204" pitchFamily="34" charset="0"/>
                <a:cs typeface="Arial" panose="020B0604020202020204" pitchFamily="34" charset="0"/>
              </a:rPr>
              <a:t> Academy." Show enrolled courses as cards, progress trackers ( element), upcoming deadlines, and a section for video lectures     ( player with tracks).</a:t>
            </a:r>
            <a:endParaRPr lang="en-IN" dirty="0">
              <a:solidFill>
                <a:schemeClr val="accent3">
                  <a:lumMod val="40000"/>
                  <a:lumOff val="60000"/>
                </a:schemeClr>
              </a:solidFill>
              <a:latin typeface="Arial" panose="020B0604020202020204" pitchFamily="34" charset="0"/>
              <a:cs typeface="Arial" panose="020B0604020202020204" pitchFamily="34" charset="0"/>
            </a:endParaRPr>
          </a:p>
        </p:txBody>
      </p:sp>
      <p:sp>
        <p:nvSpPr>
          <p:cNvPr id="5" name="Speech Bubble: Rectangle with Corners Rounded 4">
            <a:extLst>
              <a:ext uri="{FF2B5EF4-FFF2-40B4-BE49-F238E27FC236}">
                <a16:creationId xmlns:a16="http://schemas.microsoft.com/office/drawing/2014/main" id="{70F6BC7D-204A-8ED2-4072-00AA50B9B31F}"/>
              </a:ext>
            </a:extLst>
          </p:cNvPr>
          <p:cNvSpPr/>
          <p:nvPr/>
        </p:nvSpPr>
        <p:spPr>
          <a:xfrm>
            <a:off x="1456660" y="1451898"/>
            <a:ext cx="6687879" cy="983512"/>
          </a:xfrm>
          <a:prstGeom prst="wedgeRoundRectCallout">
            <a:avLst>
              <a:gd name="adj1" fmla="val -22642"/>
              <a:gd name="adj2" fmla="val 117239"/>
              <a:gd name="adj3" fmla="val 16667"/>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8D364BF-D7EE-8A31-2FE4-7506BB7493A5}"/>
              </a:ext>
            </a:extLst>
          </p:cNvPr>
          <p:cNvSpPr>
            <a:spLocks noGrp="1"/>
          </p:cNvSpPr>
          <p:nvPr>
            <p:ph type="ctrTitle"/>
          </p:nvPr>
        </p:nvSpPr>
        <p:spPr>
          <a:xfrm>
            <a:off x="1700212" y="-135426"/>
            <a:ext cx="8791575" cy="2387600"/>
          </a:xfrm>
        </p:spPr>
        <p:txBody>
          <a:bodyPr/>
          <a:lstStyle/>
          <a:p>
            <a:r>
              <a:rPr lang="en-IN" b="1" cap="none" dirty="0" err="1">
                <a:ln w="12700">
                  <a:solidFill>
                    <a:schemeClr val="accent1"/>
                  </a:solidFill>
                  <a:prstDash val="solid"/>
                </a:ln>
                <a:effectLst>
                  <a:outerShdw dist="38100" dir="2640000" algn="bl" rotWithShape="0">
                    <a:schemeClr val="accent1"/>
                  </a:outerShdw>
                </a:effectLst>
              </a:rPr>
              <a:t>CodeMaster</a:t>
            </a:r>
            <a:r>
              <a:rPr lang="en-IN" b="1" cap="none" dirty="0">
                <a:ln w="12700">
                  <a:solidFill>
                    <a:schemeClr val="accent1"/>
                  </a:solidFill>
                  <a:prstDash val="solid"/>
                </a:ln>
                <a:effectLst>
                  <a:outerShdw dist="38100" dir="2640000" algn="bl" rotWithShape="0">
                    <a:schemeClr val="accent1"/>
                  </a:outerShdw>
                </a:effectLst>
              </a:rPr>
              <a:t> Academy</a:t>
            </a:r>
            <a:r>
              <a:rPr lang="en-IN" dirty="0"/>
              <a:t>.</a:t>
            </a:r>
          </a:p>
        </p:txBody>
      </p:sp>
      <p:pic>
        <p:nvPicPr>
          <p:cNvPr id="10" name="Picture 9">
            <a:extLst>
              <a:ext uri="{FF2B5EF4-FFF2-40B4-BE49-F238E27FC236}">
                <a16:creationId xmlns:a16="http://schemas.microsoft.com/office/drawing/2014/main" id="{AFA37B41-2CF0-FB34-5406-E6F6438B694E}"/>
              </a:ext>
            </a:extLst>
          </p:cNvPr>
          <p:cNvPicPr>
            <a:picLocks noChangeAspect="1"/>
          </p:cNvPicPr>
          <p:nvPr/>
        </p:nvPicPr>
        <p:blipFill>
          <a:blip r:embed="rId2">
            <a:extLst>
              <a:ext uri="{28A0092B-C50C-407E-A947-70E740481C1C}">
                <a14:useLocalDpi xmlns:a14="http://schemas.microsoft.com/office/drawing/2010/main" val="0"/>
              </a:ext>
            </a:extLst>
          </a:blip>
          <a:srcRect l="21256" t="8595" r="19961"/>
          <a:stretch>
            <a:fillRect/>
          </a:stretch>
        </p:blipFill>
        <p:spPr>
          <a:xfrm>
            <a:off x="8388091" y="958334"/>
            <a:ext cx="2573079" cy="2182388"/>
          </a:xfrm>
          <a:prstGeom prst="rect">
            <a:avLst/>
          </a:prstGeom>
        </p:spPr>
      </p:pic>
    </p:spTree>
    <p:extLst>
      <p:ext uri="{BB962C8B-B14F-4D97-AF65-F5344CB8AC3E}">
        <p14:creationId xmlns:p14="http://schemas.microsoft.com/office/powerpoint/2010/main" val="2281321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846CDB-4848-E469-B94E-ACC208F9F843}"/>
              </a:ext>
            </a:extLst>
          </p:cNvPr>
          <p:cNvSpPr/>
          <p:nvPr/>
        </p:nvSpPr>
        <p:spPr>
          <a:xfrm>
            <a:off x="2392326" y="1111102"/>
            <a:ext cx="7740502" cy="978195"/>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11D42D9-605A-FEA7-54ED-127C66F5FDFD}"/>
              </a:ext>
            </a:extLst>
          </p:cNvPr>
          <p:cNvSpPr>
            <a:spLocks noGrp="1"/>
          </p:cNvSpPr>
          <p:nvPr>
            <p:ph type="ctrTitle"/>
          </p:nvPr>
        </p:nvSpPr>
        <p:spPr>
          <a:xfrm>
            <a:off x="2620703" y="606055"/>
            <a:ext cx="7777939" cy="1330289"/>
          </a:xfrm>
        </p:spPr>
        <p:txBody>
          <a:bodyPr>
            <a:normAutofit fontScale="90000"/>
          </a:bodyPr>
          <a:lstStyle/>
          <a:p>
            <a:r>
              <a:rPr lang="en-IN" dirty="0">
                <a:latin typeface="Calibri" panose="020F0502020204030204" pitchFamily="34" charset="0"/>
                <a:cs typeface="Calibri" panose="020F0502020204030204" pitchFamily="34" charset="0"/>
              </a:rPr>
              <a:t>Why a Student Dashboard?</a:t>
            </a:r>
          </a:p>
        </p:txBody>
      </p:sp>
      <p:sp>
        <p:nvSpPr>
          <p:cNvPr id="5" name="Rectangle: Rounded Corners 4">
            <a:extLst>
              <a:ext uri="{FF2B5EF4-FFF2-40B4-BE49-F238E27FC236}">
                <a16:creationId xmlns:a16="http://schemas.microsoft.com/office/drawing/2014/main" id="{66190C6D-CD9F-550A-A053-C124A72F8C95}"/>
              </a:ext>
            </a:extLst>
          </p:cNvPr>
          <p:cNvSpPr/>
          <p:nvPr/>
        </p:nvSpPr>
        <p:spPr>
          <a:xfrm>
            <a:off x="1054536" y="2876116"/>
            <a:ext cx="3304814" cy="288673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One central place to track all your enrolled courses and learning materials.</a:t>
            </a:r>
            <a:endParaRPr lang="en-IN" dirty="0"/>
          </a:p>
        </p:txBody>
      </p:sp>
      <p:sp>
        <p:nvSpPr>
          <p:cNvPr id="6" name="Rectangle 1">
            <a:extLst>
              <a:ext uri="{FF2B5EF4-FFF2-40B4-BE49-F238E27FC236}">
                <a16:creationId xmlns:a16="http://schemas.microsoft.com/office/drawing/2014/main" id="{38C62E7B-1085-C19D-9CE3-78A2693BBF6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9">
            <a:extLst>
              <a:ext uri="{FF2B5EF4-FFF2-40B4-BE49-F238E27FC236}">
                <a16:creationId xmlns:a16="http://schemas.microsoft.com/office/drawing/2014/main" id="{BDF2AB26-58AB-FB62-65A5-8327A760691F}"/>
              </a:ext>
            </a:extLst>
          </p:cNvPr>
          <p:cNvSpPr>
            <a:spLocks noGrp="1" noChangeArrowheads="1"/>
          </p:cNvSpPr>
          <p:nvPr>
            <p:ph type="subTitle" idx="1"/>
          </p:nvPr>
        </p:nvSpPr>
        <p:spPr bwMode="auto">
          <a:xfrm>
            <a:off x="1054536" y="4040860"/>
            <a:ext cx="3132333" cy="154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dirty="0">
                <a:solidFill>
                  <a:schemeClr val="bg1"/>
                </a:solidFill>
                <a:latin typeface="Calibri" panose="020F0502020204030204" pitchFamily="34" charset="0"/>
                <a:cs typeface="Calibri" panose="020F0502020204030204" pitchFamily="34" charset="0"/>
              </a:rPr>
              <a:t>One central place to track all your enrolled courses and learning materials.</a:t>
            </a:r>
            <a:endParaRPr lang="en-IN" dirty="0">
              <a:solidFill>
                <a:schemeClr val="bg1"/>
              </a:solidFill>
              <a:latin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DBEF05D5-BD07-DD5A-D840-2B1BF15CD596}"/>
              </a:ext>
            </a:extLst>
          </p:cNvPr>
          <p:cNvSpPr/>
          <p:nvPr/>
        </p:nvSpPr>
        <p:spPr>
          <a:xfrm>
            <a:off x="2232836" y="3184712"/>
            <a:ext cx="839973" cy="720225"/>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ocument with solid fill">
            <a:extLst>
              <a:ext uri="{FF2B5EF4-FFF2-40B4-BE49-F238E27FC236}">
                <a16:creationId xmlns:a16="http://schemas.microsoft.com/office/drawing/2014/main" id="{DDB24313-E184-2E9D-852E-BBABF902CA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2326" y="3291040"/>
            <a:ext cx="520995" cy="520995"/>
          </a:xfrm>
          <a:prstGeom prst="rect">
            <a:avLst/>
          </a:prstGeom>
        </p:spPr>
      </p:pic>
      <p:sp>
        <p:nvSpPr>
          <p:cNvPr id="18" name="Rectangle: Rounded Corners 17">
            <a:extLst>
              <a:ext uri="{FF2B5EF4-FFF2-40B4-BE49-F238E27FC236}">
                <a16:creationId xmlns:a16="http://schemas.microsoft.com/office/drawing/2014/main" id="{A39BF485-39D5-007E-18A2-7366A0CF2389}"/>
              </a:ext>
            </a:extLst>
          </p:cNvPr>
          <p:cNvSpPr/>
          <p:nvPr/>
        </p:nvSpPr>
        <p:spPr>
          <a:xfrm>
            <a:off x="4527838" y="2876116"/>
            <a:ext cx="3304814" cy="288673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One central place to track all your enrolled courses and learning materials.</a:t>
            </a:r>
            <a:endParaRPr lang="en-IN" dirty="0"/>
          </a:p>
        </p:txBody>
      </p:sp>
      <p:sp>
        <p:nvSpPr>
          <p:cNvPr id="19" name="Oval 18">
            <a:extLst>
              <a:ext uri="{FF2B5EF4-FFF2-40B4-BE49-F238E27FC236}">
                <a16:creationId xmlns:a16="http://schemas.microsoft.com/office/drawing/2014/main" id="{D492FEAF-AC9B-0F3C-9F56-7B324DFD7E2C}"/>
              </a:ext>
            </a:extLst>
          </p:cNvPr>
          <p:cNvSpPr/>
          <p:nvPr/>
        </p:nvSpPr>
        <p:spPr>
          <a:xfrm>
            <a:off x="5779907" y="3091810"/>
            <a:ext cx="839973" cy="720225"/>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9">
            <a:extLst>
              <a:ext uri="{FF2B5EF4-FFF2-40B4-BE49-F238E27FC236}">
                <a16:creationId xmlns:a16="http://schemas.microsoft.com/office/drawing/2014/main" id="{CB742E9F-5F72-6604-57E8-5724ACB71FD1}"/>
              </a:ext>
            </a:extLst>
          </p:cNvPr>
          <p:cNvSpPr txBox="1">
            <a:spLocks noChangeArrowheads="1"/>
          </p:cNvSpPr>
          <p:nvPr/>
        </p:nvSpPr>
        <p:spPr bwMode="auto">
          <a:xfrm>
            <a:off x="4805916" y="3997114"/>
            <a:ext cx="2787957" cy="154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accent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Quick access to your progress and clear next steps for learning</a:t>
            </a:r>
            <a:r>
              <a:rPr lang="en-US" dirty="0">
                <a:latin typeface="Calibri" panose="020F0502020204030204" pitchFamily="34" charset="0"/>
                <a:cs typeface="Calibri" panose="020F0502020204030204" pitchFamily="34" charset="0"/>
              </a:rPr>
              <a:t>.</a:t>
            </a:r>
            <a:endParaRPr lang="en-IN" dirty="0">
              <a:solidFill>
                <a:schemeClr val="bg1"/>
              </a:solidFill>
              <a:latin typeface="Calibri" panose="020F0502020204030204" pitchFamily="34" charset="0"/>
              <a:cs typeface="Calibri" panose="020F0502020204030204" pitchFamily="34" charset="0"/>
            </a:endParaRPr>
          </a:p>
        </p:txBody>
      </p:sp>
      <p:pic>
        <p:nvPicPr>
          <p:cNvPr id="22" name="Graphic 21" descr="Bullseye with solid fill">
            <a:extLst>
              <a:ext uri="{FF2B5EF4-FFF2-40B4-BE49-F238E27FC236}">
                <a16:creationId xmlns:a16="http://schemas.microsoft.com/office/drawing/2014/main" id="{1A555444-DBDB-79F8-BC2E-1BBBC5E73D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01844" y="3132606"/>
            <a:ext cx="632637" cy="632637"/>
          </a:xfrm>
          <a:prstGeom prst="rect">
            <a:avLst/>
          </a:prstGeom>
        </p:spPr>
      </p:pic>
      <p:sp>
        <p:nvSpPr>
          <p:cNvPr id="23" name="Rectangle: Rounded Corners 22">
            <a:extLst>
              <a:ext uri="{FF2B5EF4-FFF2-40B4-BE49-F238E27FC236}">
                <a16:creationId xmlns:a16="http://schemas.microsoft.com/office/drawing/2014/main" id="{5B62E561-AF93-8290-F194-A3687B5AF2B6}"/>
              </a:ext>
            </a:extLst>
          </p:cNvPr>
          <p:cNvSpPr/>
          <p:nvPr/>
        </p:nvSpPr>
        <p:spPr>
          <a:xfrm>
            <a:off x="8001140" y="2876116"/>
            <a:ext cx="3304814" cy="288673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One central place to track all your enrolled courses and learning materials.</a:t>
            </a:r>
            <a:endParaRPr lang="en-IN" dirty="0"/>
          </a:p>
        </p:txBody>
      </p:sp>
      <p:sp>
        <p:nvSpPr>
          <p:cNvPr id="24" name="Oval 23">
            <a:extLst>
              <a:ext uri="{FF2B5EF4-FFF2-40B4-BE49-F238E27FC236}">
                <a16:creationId xmlns:a16="http://schemas.microsoft.com/office/drawing/2014/main" id="{7BD71AF0-3E0F-E611-2A8D-1CF9AFBBBBC3}"/>
              </a:ext>
            </a:extLst>
          </p:cNvPr>
          <p:cNvSpPr/>
          <p:nvPr/>
        </p:nvSpPr>
        <p:spPr>
          <a:xfrm>
            <a:off x="9292855" y="3029069"/>
            <a:ext cx="839973" cy="720225"/>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9">
            <a:extLst>
              <a:ext uri="{FF2B5EF4-FFF2-40B4-BE49-F238E27FC236}">
                <a16:creationId xmlns:a16="http://schemas.microsoft.com/office/drawing/2014/main" id="{183A72C4-E352-76D9-E63F-D2B5BA71691D}"/>
              </a:ext>
            </a:extLst>
          </p:cNvPr>
          <p:cNvSpPr txBox="1">
            <a:spLocks noChangeArrowheads="1"/>
          </p:cNvSpPr>
          <p:nvPr/>
        </p:nvSpPr>
        <p:spPr bwMode="auto">
          <a:xfrm>
            <a:off x="8259568" y="3997113"/>
            <a:ext cx="2787957" cy="154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accent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85% of students say progress trackers help keep them motivated.</a:t>
            </a:r>
            <a:endParaRPr lang="en-IN" dirty="0">
              <a:solidFill>
                <a:schemeClr val="bg1"/>
              </a:solidFill>
              <a:latin typeface="Calibri" panose="020F0502020204030204" pitchFamily="34" charset="0"/>
              <a:cs typeface="Calibri" panose="020F0502020204030204" pitchFamily="34" charset="0"/>
            </a:endParaRPr>
          </a:p>
        </p:txBody>
      </p:sp>
      <p:pic>
        <p:nvPicPr>
          <p:cNvPr id="27" name="Graphic 26" descr="Bar graph with upward trend with solid fill">
            <a:extLst>
              <a:ext uri="{FF2B5EF4-FFF2-40B4-BE49-F238E27FC236}">
                <a16:creationId xmlns:a16="http://schemas.microsoft.com/office/drawing/2014/main" id="{F5F72706-105D-FCEB-DDE9-EB8F05F792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72037" y="3169820"/>
            <a:ext cx="487127" cy="487127"/>
          </a:xfrm>
          <a:prstGeom prst="rect">
            <a:avLst/>
          </a:prstGeom>
        </p:spPr>
      </p:pic>
    </p:spTree>
    <p:extLst>
      <p:ext uri="{BB962C8B-B14F-4D97-AF65-F5344CB8AC3E}">
        <p14:creationId xmlns:p14="http://schemas.microsoft.com/office/powerpoint/2010/main" val="1427269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45D1-B8BE-9068-10F6-D4EE398393B7}"/>
              </a:ext>
            </a:extLst>
          </p:cNvPr>
          <p:cNvSpPr>
            <a:spLocks noGrp="1"/>
          </p:cNvSpPr>
          <p:nvPr>
            <p:ph type="ctrTitle"/>
          </p:nvPr>
        </p:nvSpPr>
        <p:spPr>
          <a:xfrm>
            <a:off x="1700212" y="2131828"/>
            <a:ext cx="8791575" cy="788028"/>
          </a:xfrm>
        </p:spPr>
        <p:txBody>
          <a:bodyPr/>
          <a:lstStyle/>
          <a:p>
            <a:pPr algn="ctr"/>
            <a:r>
              <a:rPr lang="en-US" dirty="0"/>
              <a:t>Level 1</a:t>
            </a:r>
            <a:endParaRPr lang="en-IN" dirty="0"/>
          </a:p>
        </p:txBody>
      </p:sp>
      <p:sp>
        <p:nvSpPr>
          <p:cNvPr id="3" name="Subtitle 2">
            <a:extLst>
              <a:ext uri="{FF2B5EF4-FFF2-40B4-BE49-F238E27FC236}">
                <a16:creationId xmlns:a16="http://schemas.microsoft.com/office/drawing/2014/main" id="{A86D81F3-DBD1-ED1C-AEE8-9410AE5657B4}"/>
              </a:ext>
            </a:extLst>
          </p:cNvPr>
          <p:cNvSpPr>
            <a:spLocks noGrp="1"/>
          </p:cNvSpPr>
          <p:nvPr>
            <p:ph type="subTitle" idx="1"/>
          </p:nvPr>
        </p:nvSpPr>
        <p:spPr>
          <a:xfrm>
            <a:off x="1621243" y="2919856"/>
            <a:ext cx="8791575" cy="1655762"/>
          </a:xfrm>
        </p:spPr>
        <p:txBody>
          <a:bodyPr/>
          <a:lstStyle/>
          <a:p>
            <a:pPr algn="ctr"/>
            <a:r>
              <a:rPr lang="en-US" sz="3200" dirty="0">
                <a:solidFill>
                  <a:schemeClr val="tx1"/>
                </a:solidFill>
              </a:rPr>
              <a:t>Basic Layout</a:t>
            </a:r>
          </a:p>
          <a:p>
            <a:pPr algn="ctr"/>
            <a:r>
              <a:rPr lang="en-US" sz="3200" dirty="0">
                <a:solidFill>
                  <a:schemeClr val="tx1"/>
                </a:solidFill>
              </a:rPr>
              <a:t>HTML</a:t>
            </a:r>
            <a:endParaRPr lang="en-IN" sz="3200" dirty="0">
              <a:solidFill>
                <a:schemeClr val="tx1"/>
              </a:solidFill>
            </a:endParaRPr>
          </a:p>
          <a:p>
            <a:endParaRPr lang="en-IN" dirty="0"/>
          </a:p>
        </p:txBody>
      </p:sp>
    </p:spTree>
    <p:extLst>
      <p:ext uri="{BB962C8B-B14F-4D97-AF65-F5344CB8AC3E}">
        <p14:creationId xmlns:p14="http://schemas.microsoft.com/office/powerpoint/2010/main" val="3544944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090E33-E511-DD7A-CF24-FC46E1CC344C}"/>
              </a:ext>
            </a:extLst>
          </p:cNvPr>
          <p:cNvSpPr/>
          <p:nvPr/>
        </p:nvSpPr>
        <p:spPr>
          <a:xfrm>
            <a:off x="3119658" y="696433"/>
            <a:ext cx="5550195" cy="903767"/>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0FD37A4-7C22-82CA-0FAD-381D2D7BF0B8}"/>
              </a:ext>
            </a:extLst>
          </p:cNvPr>
          <p:cNvSpPr>
            <a:spLocks noGrp="1"/>
          </p:cNvSpPr>
          <p:nvPr>
            <p:ph type="ctrTitle"/>
          </p:nvPr>
        </p:nvSpPr>
        <p:spPr>
          <a:xfrm>
            <a:off x="3158644" y="259888"/>
            <a:ext cx="5874711" cy="1989507"/>
          </a:xfrm>
        </p:spPr>
        <p:txBody>
          <a:bodyPr/>
          <a:lstStyle/>
          <a:p>
            <a:r>
              <a:rPr lang="en-IN" dirty="0"/>
              <a:t>Enrolled Courses</a:t>
            </a:r>
            <a:br>
              <a:rPr lang="en-IN" dirty="0"/>
            </a:br>
            <a:endParaRPr lang="en-IN" dirty="0"/>
          </a:p>
        </p:txBody>
      </p:sp>
      <p:sp>
        <p:nvSpPr>
          <p:cNvPr id="5" name="Rectangle: Rounded Corners 4">
            <a:extLst>
              <a:ext uri="{FF2B5EF4-FFF2-40B4-BE49-F238E27FC236}">
                <a16:creationId xmlns:a16="http://schemas.microsoft.com/office/drawing/2014/main" id="{A6083E61-4ECC-4F22-1F9F-B8F674FBA764}"/>
              </a:ext>
            </a:extLst>
          </p:cNvPr>
          <p:cNvSpPr/>
          <p:nvPr/>
        </p:nvSpPr>
        <p:spPr>
          <a:xfrm>
            <a:off x="5061098" y="2594344"/>
            <a:ext cx="6358269" cy="2658140"/>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a:extLst>
              <a:ext uri="{FF2B5EF4-FFF2-40B4-BE49-F238E27FC236}">
                <a16:creationId xmlns:a16="http://schemas.microsoft.com/office/drawing/2014/main" id="{F02DC2B1-8521-4660-BF0E-5F703CBF67E6}"/>
              </a:ext>
            </a:extLst>
          </p:cNvPr>
          <p:cNvSpPr>
            <a:spLocks noGrp="1"/>
          </p:cNvSpPr>
          <p:nvPr>
            <p:ph type="subTitle" idx="1"/>
          </p:nvPr>
        </p:nvSpPr>
        <p:spPr>
          <a:xfrm>
            <a:off x="5140619" y="2685940"/>
            <a:ext cx="6300013" cy="2450805"/>
          </a:xfrm>
        </p:spPr>
        <p:txBody>
          <a:bodyPr>
            <a:normAutofit lnSpcReduction="10000"/>
          </a:bodyPr>
          <a:lstStyle/>
          <a:p>
            <a:r>
              <a:rPr lang="en-IN" sz="2800" b="1" dirty="0">
                <a:solidFill>
                  <a:schemeClr val="tx1"/>
                </a:solidFill>
              </a:rPr>
              <a:t>"Course Cards"</a:t>
            </a:r>
            <a:endParaRPr lang="en-IN" sz="2800" dirty="0">
              <a:solidFill>
                <a:schemeClr val="tx1"/>
              </a:solidFill>
            </a:endParaRPr>
          </a:p>
          <a:p>
            <a:r>
              <a:rPr lang="en-US" dirty="0">
                <a:solidFill>
                  <a:schemeClr val="tx1"/>
                </a:solidFill>
              </a:rPr>
              <a:t>Your enrolled courses are displayed as easy-to-navigate cards for quick access. Each card shows the course title, a brief description, and a thumbnail image—making it simple to jump back into learning.</a:t>
            </a:r>
          </a:p>
          <a:p>
            <a:endParaRPr lang="en-IN" dirty="0"/>
          </a:p>
        </p:txBody>
      </p:sp>
      <p:pic>
        <p:nvPicPr>
          <p:cNvPr id="7" name="Picture 6">
            <a:extLst>
              <a:ext uri="{FF2B5EF4-FFF2-40B4-BE49-F238E27FC236}">
                <a16:creationId xmlns:a16="http://schemas.microsoft.com/office/drawing/2014/main" id="{800BB872-EC5B-8408-CD3E-E8970C713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431" y="2594344"/>
            <a:ext cx="4630709" cy="2434856"/>
          </a:xfrm>
          <a:prstGeom prst="rect">
            <a:avLst/>
          </a:prstGeom>
        </p:spPr>
      </p:pic>
    </p:spTree>
    <p:extLst>
      <p:ext uri="{BB962C8B-B14F-4D97-AF65-F5344CB8AC3E}">
        <p14:creationId xmlns:p14="http://schemas.microsoft.com/office/powerpoint/2010/main" val="3401807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80E39F-7C03-3921-025D-21FF9E76DED8}"/>
              </a:ext>
            </a:extLst>
          </p:cNvPr>
          <p:cNvSpPr/>
          <p:nvPr/>
        </p:nvSpPr>
        <p:spPr>
          <a:xfrm>
            <a:off x="2921184" y="683220"/>
            <a:ext cx="6073959" cy="91698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C3C6D79-1567-4846-336D-07713189A6EA}"/>
              </a:ext>
            </a:extLst>
          </p:cNvPr>
          <p:cNvSpPr>
            <a:spLocks noGrp="1"/>
          </p:cNvSpPr>
          <p:nvPr>
            <p:ph type="ctrTitle"/>
          </p:nvPr>
        </p:nvSpPr>
        <p:spPr>
          <a:xfrm>
            <a:off x="3364983" y="216844"/>
            <a:ext cx="5024106" cy="1233155"/>
          </a:xfrm>
        </p:spPr>
        <p:txBody>
          <a:bodyPr>
            <a:normAutofit fontScale="90000"/>
          </a:bodyPr>
          <a:lstStyle/>
          <a:p>
            <a:r>
              <a:rPr lang="en-IN" dirty="0"/>
              <a:t>Progress Trackers</a:t>
            </a:r>
          </a:p>
        </p:txBody>
      </p:sp>
      <p:sp>
        <p:nvSpPr>
          <p:cNvPr id="7" name="Rectangle 6">
            <a:extLst>
              <a:ext uri="{FF2B5EF4-FFF2-40B4-BE49-F238E27FC236}">
                <a16:creationId xmlns:a16="http://schemas.microsoft.com/office/drawing/2014/main" id="{E9978757-806E-2047-E1F2-CE5EC70B0234}"/>
              </a:ext>
            </a:extLst>
          </p:cNvPr>
          <p:cNvSpPr/>
          <p:nvPr/>
        </p:nvSpPr>
        <p:spPr>
          <a:xfrm>
            <a:off x="4895299" y="2294234"/>
            <a:ext cx="6524069" cy="247978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ubtitle 2">
            <a:extLst>
              <a:ext uri="{FF2B5EF4-FFF2-40B4-BE49-F238E27FC236}">
                <a16:creationId xmlns:a16="http://schemas.microsoft.com/office/drawing/2014/main" id="{2334A6EF-B3E6-85C2-D27C-79F5D2827453}"/>
              </a:ext>
            </a:extLst>
          </p:cNvPr>
          <p:cNvSpPr>
            <a:spLocks noGrp="1"/>
          </p:cNvSpPr>
          <p:nvPr>
            <p:ph type="subTitle" idx="1"/>
          </p:nvPr>
        </p:nvSpPr>
        <p:spPr>
          <a:xfrm>
            <a:off x="5033522" y="2294234"/>
            <a:ext cx="6073958" cy="2479785"/>
          </a:xfrm>
        </p:spPr>
        <p:txBody>
          <a:bodyPr>
            <a:normAutofit fontScale="92500" lnSpcReduction="10000"/>
          </a:bodyPr>
          <a:lstStyle/>
          <a:p>
            <a:r>
              <a:rPr lang="en-IN" sz="3000" b="1" dirty="0">
                <a:solidFill>
                  <a:schemeClr val="tx1"/>
                </a:solidFill>
              </a:rPr>
              <a:t>"Track Your Journey"</a:t>
            </a:r>
            <a:endParaRPr lang="en-IN" sz="3000" dirty="0">
              <a:solidFill>
                <a:schemeClr val="tx1"/>
              </a:solidFill>
            </a:endParaRPr>
          </a:p>
          <a:p>
            <a:r>
              <a:rPr lang="en-US" sz="2200" dirty="0">
                <a:solidFill>
                  <a:schemeClr val="tx1"/>
                </a:solidFill>
              </a:rPr>
              <a:t>Each course card features an intuitive progress bar showing your completion percentage. Watch your progress grow as you complete lessons, motivating you to reach your learning goals and celebrate every milestone.</a:t>
            </a:r>
          </a:p>
          <a:p>
            <a:endParaRPr lang="en-IN" dirty="0"/>
          </a:p>
        </p:txBody>
      </p:sp>
      <p:pic>
        <p:nvPicPr>
          <p:cNvPr id="5" name="Picture 4" descr="Magnifying glass showing decling performance">
            <a:extLst>
              <a:ext uri="{FF2B5EF4-FFF2-40B4-BE49-F238E27FC236}">
                <a16:creationId xmlns:a16="http://schemas.microsoft.com/office/drawing/2014/main" id="{C7A3F347-8056-1B1F-E423-7D5CCF013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69" y="2294234"/>
            <a:ext cx="3567593" cy="2377814"/>
          </a:xfrm>
          <a:prstGeom prst="rect">
            <a:avLst/>
          </a:prstGeom>
        </p:spPr>
      </p:pic>
    </p:spTree>
    <p:extLst>
      <p:ext uri="{BB962C8B-B14F-4D97-AF65-F5344CB8AC3E}">
        <p14:creationId xmlns:p14="http://schemas.microsoft.com/office/powerpoint/2010/main" val="1864805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D012611-5BD4-E3EE-CA04-F53EEBA3E207}"/>
              </a:ext>
            </a:extLst>
          </p:cNvPr>
          <p:cNvSpPr/>
          <p:nvPr/>
        </p:nvSpPr>
        <p:spPr>
          <a:xfrm>
            <a:off x="2434856" y="978195"/>
            <a:ext cx="7517218" cy="1903228"/>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A5C01CC7-FE3E-E1F6-7E0E-D3C2C165211A}"/>
              </a:ext>
            </a:extLst>
          </p:cNvPr>
          <p:cNvSpPr>
            <a:spLocks noGrp="1"/>
          </p:cNvSpPr>
          <p:nvPr>
            <p:ph type="ctrTitle"/>
          </p:nvPr>
        </p:nvSpPr>
        <p:spPr>
          <a:xfrm>
            <a:off x="1700212" y="1082731"/>
            <a:ext cx="8791575" cy="1542940"/>
          </a:xfrm>
          <a:scene3d>
            <a:camera prst="perspectiveAbove"/>
            <a:lightRig rig="threePt" dir="t"/>
          </a:scene3d>
        </p:spPr>
        <p:txBody>
          <a:bodyPr/>
          <a:lstStyle/>
          <a:p>
            <a:pPr algn="ctr"/>
            <a:r>
              <a:rPr lang="en-IN" dirty="0"/>
              <a:t>Welcome to </a:t>
            </a:r>
            <a:br>
              <a:rPr lang="en-IN" dirty="0"/>
            </a:br>
            <a:r>
              <a:rPr lang="en-IN" dirty="0" err="1"/>
              <a:t>CodeMaster</a:t>
            </a:r>
            <a:r>
              <a:rPr lang="en-IN" dirty="0"/>
              <a:t> Academy</a:t>
            </a:r>
          </a:p>
        </p:txBody>
      </p:sp>
      <p:sp>
        <p:nvSpPr>
          <p:cNvPr id="5" name="Rectangle 4">
            <a:extLst>
              <a:ext uri="{FF2B5EF4-FFF2-40B4-BE49-F238E27FC236}">
                <a16:creationId xmlns:a16="http://schemas.microsoft.com/office/drawing/2014/main" id="{88060CC4-662F-A0A5-EE96-175911B8E539}"/>
              </a:ext>
            </a:extLst>
          </p:cNvPr>
          <p:cNvSpPr/>
          <p:nvPr/>
        </p:nvSpPr>
        <p:spPr>
          <a:xfrm>
            <a:off x="2124739" y="3562735"/>
            <a:ext cx="7942521" cy="8878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Subtitle 2">
            <a:extLst>
              <a:ext uri="{FF2B5EF4-FFF2-40B4-BE49-F238E27FC236}">
                <a16:creationId xmlns:a16="http://schemas.microsoft.com/office/drawing/2014/main" id="{29CD7D32-B5F0-BABD-392D-BE41D9A87F9F}"/>
              </a:ext>
            </a:extLst>
          </p:cNvPr>
          <p:cNvSpPr>
            <a:spLocks noGrp="1"/>
          </p:cNvSpPr>
          <p:nvPr>
            <p:ph type="subTitle" idx="1"/>
          </p:nvPr>
        </p:nvSpPr>
        <p:spPr>
          <a:xfrm>
            <a:off x="2434856" y="3750893"/>
            <a:ext cx="8970558" cy="481437"/>
          </a:xfrm>
        </p:spPr>
        <p:txBody>
          <a:bodyPr/>
          <a:lstStyle/>
          <a:p>
            <a:r>
              <a:rPr lang="en-IN" dirty="0">
                <a:latin typeface="Calibri" panose="020F0502020204030204" pitchFamily="34" charset="0"/>
                <a:cs typeface="Calibri" panose="020F0502020204030204" pitchFamily="34" charset="0"/>
              </a:rPr>
              <a:t>https://github.com/Madhurj-dot/College-Assignment.git</a:t>
            </a:r>
          </a:p>
        </p:txBody>
      </p:sp>
      <p:sp>
        <p:nvSpPr>
          <p:cNvPr id="7" name="TextBox 6">
            <a:extLst>
              <a:ext uri="{FF2B5EF4-FFF2-40B4-BE49-F238E27FC236}">
                <a16:creationId xmlns:a16="http://schemas.microsoft.com/office/drawing/2014/main" id="{787B7DFA-16F5-78FE-C992-ED9EFD88A2D7}"/>
              </a:ext>
            </a:extLst>
          </p:cNvPr>
          <p:cNvSpPr txBox="1"/>
          <p:nvPr/>
        </p:nvSpPr>
        <p:spPr>
          <a:xfrm>
            <a:off x="2604977" y="5171919"/>
            <a:ext cx="5943600" cy="707886"/>
          </a:xfrm>
          <a:prstGeom prst="rect">
            <a:avLst/>
          </a:prstGeom>
          <a:noFill/>
        </p:spPr>
        <p:txBody>
          <a:bodyPr wrap="square" rtlCol="0">
            <a:spAutoFit/>
          </a:bodyPr>
          <a:lstStyle/>
          <a:p>
            <a:r>
              <a:rPr lang="en-IN" sz="2000" dirty="0"/>
              <a:t>Note:-</a:t>
            </a:r>
          </a:p>
          <a:p>
            <a:r>
              <a:rPr lang="en-IN" sz="2000" dirty="0"/>
              <a:t>It’s Only a basic structure</a:t>
            </a:r>
          </a:p>
        </p:txBody>
      </p:sp>
    </p:spTree>
    <p:extLst>
      <p:ext uri="{BB962C8B-B14F-4D97-AF65-F5344CB8AC3E}">
        <p14:creationId xmlns:p14="http://schemas.microsoft.com/office/powerpoint/2010/main" val="1668122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134</TotalTime>
  <Words>235</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Tw Cen MT</vt:lpstr>
      <vt:lpstr>Circuit</vt:lpstr>
      <vt:lpstr>CodeMaster Academy.</vt:lpstr>
      <vt:lpstr>Why a Student Dashboard?</vt:lpstr>
      <vt:lpstr>Level 1</vt:lpstr>
      <vt:lpstr>Enrolled Courses </vt:lpstr>
      <vt:lpstr>Progress Trackers</vt:lpstr>
      <vt:lpstr>Welcome to  CodeMaster Academy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 Jamgade</dc:creator>
  <cp:lastModifiedBy>Madhur Jamgade</cp:lastModifiedBy>
  <cp:revision>1</cp:revision>
  <dcterms:created xsi:type="dcterms:W3CDTF">2026-04-14T04:11:51Z</dcterms:created>
  <dcterms:modified xsi:type="dcterms:W3CDTF">2026-04-14T06:26:37Z</dcterms:modified>
</cp:coreProperties>
</file>